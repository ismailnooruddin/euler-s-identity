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2" r:id="rId5"/>
    <p:sldId id="259" r:id="rId6"/>
    <p:sldId id="271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2" d="100"/>
          <a:sy n="102" d="100"/>
        </p:scale>
        <p:origin x="89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07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B296B-827B-188D-8F90-740C90446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6B165-E048-83FF-2478-F0C546788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0BCA8-B570-368D-465C-8CD5630DC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8EB40-DBF4-345E-8681-20F989C2A1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9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gi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0"/>
              <p:cNvSpPr/>
              <p:nvPr/>
            </p:nvSpPr>
            <p:spPr>
              <a:xfrm>
                <a:off x="2861161" y="1022152"/>
                <a:ext cx="3421678" cy="96961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756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540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5400" b="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5400" b="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l-GR" sz="5400" b="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rgbClr val="F0B429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+ 1 = 0</a:t>
                </a:r>
                <a:endParaRPr lang="en-US" sz="5400" dirty="0"/>
              </a:p>
            </p:txBody>
          </p:sp>
        </mc:Choice>
        <mc:Fallback xmlns="">
          <p:sp>
            <p:nvSpPr>
              <p:cNvPr id="2" name="Text 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161" y="1022152"/>
                <a:ext cx="3421678" cy="969615"/>
              </a:xfrm>
              <a:prstGeom prst="rect">
                <a:avLst/>
              </a:prstGeom>
              <a:blipFill>
                <a:blip r:embed="rId3"/>
                <a:stretch>
                  <a:fillRect t="-16352" r="-6050" b="-33962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1"/>
          <p:cNvSpPr/>
          <p:nvPr/>
        </p:nvSpPr>
        <p:spPr>
          <a:xfrm>
            <a:off x="3619500" y="2277517"/>
            <a:ext cx="1905000" cy="28575"/>
          </a:xfrm>
          <a:prstGeom prst="rect">
            <a:avLst/>
          </a:prstGeom>
          <a:solidFill>
            <a:srgbClr val="F0B4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03295" y="2502247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27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Euler's Identity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869764" y="3290110"/>
            <a:ext cx="342167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3000"/>
              </a:spcAft>
              <a:buNone/>
            </a:pPr>
            <a:r>
              <a:rPr lang="en-US" sz="135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Beautiful Equation in Mathematics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61161" y="3698528"/>
            <a:ext cx="34216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Ismail Noorudin  •  Shehryar Rind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61161" y="3961358"/>
            <a:ext cx="34216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Mathematics Project  •  December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Mystery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099393"/>
            <a:ext cx="7772400" cy="1005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an </a:t>
            </a:r>
            <a:r>
              <a:rPr lang="en-US" sz="165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irrational number</a:t>
            </a:r>
            <a:r>
              <a:rPr lang="en-US" sz="16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raised to the power of</a:t>
            </a:r>
            <a:endParaRPr lang="en-US" sz="1650" dirty="0"/>
          </a:p>
          <a:p>
            <a:pPr marL="0" indent="0" algn="ctr">
              <a:buNone/>
            </a:pPr>
            <a:endParaRPr lang="en-US" sz="1650" dirty="0">
              <a:solidFill>
                <a:srgbClr val="E6EDF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6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r>
              <a:rPr lang="en-US" sz="165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imaginary</a:t>
            </a:r>
            <a:r>
              <a:rPr lang="en-US" sz="16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of another </a:t>
            </a:r>
            <a:r>
              <a:rPr lang="en-US" sz="165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irrational number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equal exactly </a:t>
            </a:r>
          </a:p>
          <a:p>
            <a:pPr marL="0" indent="0" algn="ctr">
              <a:buNone/>
            </a:pPr>
            <a:endParaRPr lang="en-US" sz="1650" dirty="0"/>
          </a:p>
          <a:p>
            <a:pPr marL="0" indent="0" algn="ctr">
              <a:buNone/>
            </a:pPr>
            <a:r>
              <a:rPr lang="en-US" sz="165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one</a:t>
            </a:r>
            <a:r>
              <a:rPr lang="en-US" sz="16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81050" y="2638276"/>
            <a:ext cx="0" cy="1211461"/>
          </a:xfrm>
          <a:prstGeom prst="line">
            <a:avLst/>
          </a:prstGeom>
          <a:noFill/>
          <a:ln w="381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210056" y="2924026"/>
            <a:ext cx="676198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4383137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0"/>
              </a:spcBef>
              <a:buNone/>
            </a:pPr>
            <a:r>
              <a:rPr lang="en-US" sz="12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lies in Taylor series and complex analysis.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B3B67C-3A0B-522D-30D1-F83A52DC8F98}"/>
                  </a:ext>
                </a:extLst>
              </p:cNvPr>
              <p:cNvSpPr txBox="1"/>
              <p:nvPr/>
            </p:nvSpPr>
            <p:spPr>
              <a:xfrm>
                <a:off x="3752740" y="2868749"/>
                <a:ext cx="1638520" cy="572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PK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l-GR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lang="en-GB" sz="3600" dirty="0">
                    <a:solidFill>
                      <a:schemeClr val="bg1"/>
                    </a:solidFill>
                    <a:latin typeface="Georgia" panose="02040502050405020303" pitchFamily="18" charset="0"/>
                    <a:cs typeface="Arial" panose="020B0604020202020204" pitchFamily="34" charset="0"/>
                  </a:rPr>
                  <a:t> = -1</a:t>
                </a:r>
                <a:endParaRPr lang="en-PK" sz="3600" dirty="0">
                  <a:solidFill>
                    <a:schemeClr val="bg1"/>
                  </a:solidFill>
                  <a:latin typeface="Georgia" panose="02040502050405020303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B3B67C-3A0B-522D-30D1-F83A52DC8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740" y="2868749"/>
                <a:ext cx="1638520" cy="572016"/>
              </a:xfrm>
              <a:prstGeom prst="rect">
                <a:avLst/>
              </a:prstGeom>
              <a:blipFill>
                <a:blip r:embed="rId3"/>
                <a:stretch>
                  <a:fillRect t="-21505" r="-8209" b="-4838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Fundamental Constants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123950"/>
            <a:ext cx="1554510" cy="3149054"/>
          </a:xfrm>
          <a:prstGeom prst="roundRect">
            <a:avLst>
              <a:gd name="adj" fmla="val 612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138238"/>
            <a:ext cx="1554510" cy="0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59765" y="1343025"/>
            <a:ext cx="119698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spcAft>
                <a:spcPts val="600"/>
              </a:spcAft>
              <a:buNone/>
            </a:pPr>
            <a:r>
              <a:rPr lang="en-US" sz="315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559765" y="1979265"/>
            <a:ext cx="11969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2.71828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9765" y="2266801"/>
            <a:ext cx="11969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base
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87910" y="1123950"/>
            <a:ext cx="1554510" cy="3149054"/>
          </a:xfrm>
          <a:prstGeom prst="roundRect">
            <a:avLst>
              <a:gd name="adj" fmla="val 612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087910" y="1138238"/>
            <a:ext cx="1554510" cy="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2266675" y="1343025"/>
            <a:ext cx="119698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spcAft>
                <a:spcPts val="600"/>
              </a:spcAft>
              <a:buNone/>
            </a:pPr>
            <a:r>
              <a:rPr lang="en-US" sz="3150" i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2266675" y="1979265"/>
            <a:ext cx="11969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√(−1)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266675" y="2266801"/>
            <a:ext cx="11969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Imaginary unit
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Numbers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820" y="1123950"/>
            <a:ext cx="1554510" cy="3149054"/>
          </a:xfrm>
          <a:prstGeom prst="roundRect">
            <a:avLst>
              <a:gd name="adj" fmla="val 612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794820" y="1138238"/>
            <a:ext cx="155451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3973584" y="1343025"/>
            <a:ext cx="119698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spcAft>
                <a:spcPts val="600"/>
              </a:spcAft>
              <a:buNone/>
            </a:pPr>
            <a:r>
              <a:rPr lang="en-US" sz="315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3973584" y="1979265"/>
            <a:ext cx="11969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3.14159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973584" y="2266801"/>
            <a:ext cx="11969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constant
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01729" y="1123950"/>
            <a:ext cx="1554510" cy="3149054"/>
          </a:xfrm>
          <a:prstGeom prst="roundRect">
            <a:avLst>
              <a:gd name="adj" fmla="val 612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501729" y="1138238"/>
            <a:ext cx="1554510" cy="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5680494" y="1343025"/>
            <a:ext cx="119698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spcAft>
                <a:spcPts val="600"/>
              </a:spcAft>
              <a:buNone/>
            </a:pPr>
            <a:r>
              <a:rPr lang="en-US" sz="315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5680494" y="1979265"/>
            <a:ext cx="11969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× 1 = a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680494" y="2266801"/>
            <a:ext cx="11969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Multiplicative
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08639" y="1123950"/>
            <a:ext cx="1554510" cy="3149054"/>
          </a:xfrm>
          <a:prstGeom prst="roundRect">
            <a:avLst>
              <a:gd name="adj" fmla="val 612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208639" y="1138238"/>
            <a:ext cx="1554510" cy="0"/>
          </a:xfrm>
          <a:prstGeom prst="line">
            <a:avLst/>
          </a:prstGeom>
          <a:noFill/>
          <a:ln w="28575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7387404" y="1343025"/>
            <a:ext cx="119698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spcAft>
                <a:spcPts val="600"/>
              </a:spcAft>
              <a:buNone/>
            </a:pPr>
            <a:r>
              <a:rPr lang="en-US" sz="3150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7387404" y="1979265"/>
            <a:ext cx="11969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+ 0 = a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7387404" y="2266801"/>
            <a:ext cx="11969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
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7180" y="46159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constants from different branches of mathematics — united in one equation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Cyclic Pattern of 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38225" y="1523107"/>
            <a:ext cx="2286000" cy="2286000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6640" y="2532757"/>
            <a:ext cx="6577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i⁰ =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94732" y="1237357"/>
            <a:ext cx="5198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i¹ = 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4368" y="2524788"/>
            <a:ext cx="705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i² = −1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39931" y="3853436"/>
            <a:ext cx="5746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i³ = −i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26232" y="2572792"/>
            <a:ext cx="3099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4996" y="4190107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1500"/>
              </a:spcBef>
              <a:buNone/>
            </a:pPr>
            <a:r>
              <a:rPr lang="en-US" sz="975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i⁴ = 1 → Pattern repeats every 4 powers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362450" y="1440210"/>
            <a:ext cx="4400550" cy="1272480"/>
          </a:xfrm>
          <a:prstGeom prst="roundRect">
            <a:avLst>
              <a:gd name="adj" fmla="val 748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00575" y="1678335"/>
            <a:ext cx="40027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600575" y="2021235"/>
            <a:ext cx="4002786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substitute </a:t>
            </a:r>
            <a:r>
              <a:rPr lang="en-US" sz="1050" dirty="0" err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i^x</a:t>
            </a: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the exponential series, powers of i create the </a:t>
            </a:r>
            <a:r>
              <a:rPr lang="en-US" sz="105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alternating signs</a:t>
            </a: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see in sine and cosine!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62450" y="2903190"/>
            <a:ext cx="4400550" cy="1352550"/>
          </a:xfrm>
          <a:prstGeom prst="roundRect">
            <a:avLst>
              <a:gd name="adj" fmla="val 563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52950" y="3046065"/>
            <a:ext cx="40999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i⁰ = 1</a:t>
            </a: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positive real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2950" y="3312765"/>
            <a:ext cx="40999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i¹ = i</a:t>
            </a: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positive imaginary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52950" y="3579465"/>
            <a:ext cx="40999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i² = −1</a:t>
            </a: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negative real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52950" y="3846165"/>
            <a:ext cx="40999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i³ = −i</a:t>
            </a: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negative imaginary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4922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Taylor Series: The Key Tool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564928"/>
            <a:ext cx="85496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 series express any smooth function as an </a:t>
            </a:r>
            <a:r>
              <a:rPr lang="en-US" sz="135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 polynomial</a:t>
            </a: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2077343"/>
            <a:ext cx="8382000" cy="742950"/>
          </a:xfrm>
          <a:prstGeom prst="roundRect">
            <a:avLst>
              <a:gd name="adj" fmla="val 1282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2315468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f(x) = f(0) + f′(0) . x + (</a:t>
            </a: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f″(0) </a:t>
            </a:r>
            <a:r>
              <a:rPr lang="en-US" sz="15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</a:t>
            </a:r>
            <a:r>
              <a:rPr lang="en-US" sz="10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2!) .</a:t>
            </a:r>
            <a:r>
              <a:rPr lang="en-US" sz="15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x² + (</a:t>
            </a: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‴(0)</a:t>
            </a:r>
            <a:r>
              <a:rPr lang="en-US" sz="15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r>
              <a:rPr lang="en-US" sz="10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3!) .</a:t>
            </a:r>
            <a:r>
              <a:rPr lang="en-US" sz="15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x³ + 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3153668"/>
            <a:ext cx="2667000" cy="977205"/>
          </a:xfrm>
          <a:prstGeom prst="roundRect">
            <a:avLst>
              <a:gd name="adj" fmla="val 779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3325118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3587948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match the function's value and all its derivatives at a single point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238500" y="3153668"/>
            <a:ext cx="2667000" cy="977205"/>
          </a:xfrm>
          <a:prstGeom prst="roundRect">
            <a:avLst>
              <a:gd name="adj" fmla="val 779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09950" y="3325118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09950" y="3587948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complex functions into sums we can manipulate algebraically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96000" y="3153668"/>
            <a:ext cx="2667000" cy="977205"/>
          </a:xfrm>
          <a:prstGeom prst="roundRect">
            <a:avLst>
              <a:gd name="adj" fmla="val 7798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67450" y="3325118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67450" y="3587948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terms = better approximation to the actual function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68443-DF11-603D-9675-F9BEC854A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90F858-45DA-DFBD-4F3C-9A3FBCE719B6}"/>
              </a:ext>
            </a:extLst>
          </p:cNvPr>
          <p:cNvSpPr/>
          <p:nvPr/>
        </p:nvSpPr>
        <p:spPr>
          <a:xfrm>
            <a:off x="381000" y="381000"/>
            <a:ext cx="44922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Taylor Series: Simulation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9DB338-64D2-2DAB-B194-D235BFD64912}"/>
              </a:ext>
            </a:extLst>
          </p:cNvPr>
          <p:cNvSpPr/>
          <p:nvPr/>
        </p:nvSpPr>
        <p:spPr>
          <a:xfrm>
            <a:off x="685800" y="2315468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36BCDF-E6E8-3334-5437-41E5227A414F}"/>
              </a:ext>
            </a:extLst>
          </p:cNvPr>
          <p:cNvSpPr/>
          <p:nvPr/>
        </p:nvSpPr>
        <p:spPr>
          <a:xfrm>
            <a:off x="552450" y="3325118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D48E71-48CC-8E41-84DE-EF89F7A09CAF}"/>
              </a:ext>
            </a:extLst>
          </p:cNvPr>
          <p:cNvSpPr/>
          <p:nvPr/>
        </p:nvSpPr>
        <p:spPr>
          <a:xfrm>
            <a:off x="552450" y="3587948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endParaRPr lang="en-US" sz="975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EC19F97-6FA5-EF36-9385-F7288D1E8DBA}"/>
              </a:ext>
            </a:extLst>
          </p:cNvPr>
          <p:cNvSpPr/>
          <p:nvPr/>
        </p:nvSpPr>
        <p:spPr>
          <a:xfrm>
            <a:off x="3409950" y="3325118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FD1FD0B-5A91-3A64-97EA-F62F258CD40D}"/>
              </a:ext>
            </a:extLst>
          </p:cNvPr>
          <p:cNvSpPr/>
          <p:nvPr/>
        </p:nvSpPr>
        <p:spPr>
          <a:xfrm>
            <a:off x="3409950" y="3587948"/>
            <a:ext cx="23705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endParaRPr lang="en-US" sz="975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ADD5AB7-7E30-146C-941A-FD82928785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239" y="1047751"/>
            <a:ext cx="8900652" cy="296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84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0"/>
              <p:cNvSpPr/>
              <p:nvPr/>
            </p:nvSpPr>
            <p:spPr>
              <a:xfrm>
                <a:off x="381000" y="381000"/>
                <a:ext cx="4284536" cy="33010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400"/>
                  </a:lnSpc>
                  <a:spcAft>
                    <a:spcPts val="750"/>
                  </a:spcAft>
                  <a:buNone/>
                </a:pPr>
                <a:r>
                  <a:rPr lang="en-US" sz="2400" b="1" dirty="0">
                    <a:solidFill>
                      <a:srgbClr val="F0B429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Taylor Series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GB" sz="2400" b="1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 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81000"/>
                <a:ext cx="4284536" cy="330101"/>
              </a:xfrm>
              <a:prstGeom prst="rect">
                <a:avLst/>
              </a:prstGeom>
              <a:blipFill>
                <a:blip r:embed="rId3"/>
                <a:stretch>
                  <a:fillRect l="-4416" t="-48148" b="-48148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1"/>
          <p:cNvSpPr/>
          <p:nvPr/>
        </p:nvSpPr>
        <p:spPr>
          <a:xfrm>
            <a:off x="381000" y="1466701"/>
            <a:ext cx="3643313" cy="945356"/>
          </a:xfrm>
          <a:prstGeom prst="roundRect">
            <a:avLst>
              <a:gd name="adj" fmla="val 1007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466701"/>
            <a:ext cx="0" cy="945356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09600" y="1657201"/>
            <a:ext cx="32886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1920032"/>
            <a:ext cx="3288697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2602557"/>
            <a:ext cx="3716179" cy="44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125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</a:t>
            </a:r>
            <a:r>
              <a:rPr lang="en-US" sz="1050" dirty="0" err="1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e^x</a:t>
            </a: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equals its own derivative, each coefficient can be found by repeated differentiation: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3187750"/>
            <a:ext cx="3716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x = 0: e = 1 → </a:t>
            </a:r>
            <a:r>
              <a:rPr lang="en-US" sz="15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1000" y="3454450"/>
            <a:ext cx="3716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Differentiate, x = 0 → </a:t>
            </a:r>
            <a:r>
              <a:rPr lang="en-US" sz="15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=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1000" y="3721150"/>
            <a:ext cx="3716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 → </a:t>
            </a:r>
            <a:r>
              <a:rPr lang="en-US" sz="15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1/2!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3987850"/>
            <a:ext cx="3716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coefficient of x is </a:t>
            </a:r>
            <a:r>
              <a:rPr lang="en-US" sz="15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1/n!</a:t>
            </a:r>
            <a:endParaRPr lang="en-US" sz="1500" dirty="0"/>
          </a:p>
        </p:txBody>
      </p:sp>
      <p:pic>
        <p:nvPicPr>
          <p:cNvPr id="12" name="Image 0" descr="/tmp/rasterized-gradient-ed0543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063" y="1767632"/>
            <a:ext cx="4452938" cy="188312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66714" y="2062907"/>
            <a:ext cx="39396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125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EXPONENTIAL SERIES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66714" y="2392412"/>
            <a:ext cx="3939635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70"/>
              </a:lnSpc>
              <a:spcAft>
                <a:spcPts val="1500"/>
              </a:spcAft>
              <a:buNone/>
            </a:pPr>
            <a:r>
              <a:rPr lang="en-US" sz="16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= 1 + x + 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x²</a:t>
            </a:r>
            <a:r>
              <a:rPr lang="en-US" sz="16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r>
              <a:rPr lang="en-US" sz="10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2!</a:t>
            </a:r>
            <a:r>
              <a:rPr lang="en-US" sz="16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x³</a:t>
            </a:r>
            <a:r>
              <a:rPr lang="en-US" sz="16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r>
              <a:rPr lang="en-US" sz="10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3!</a:t>
            </a:r>
            <a:r>
              <a:rPr lang="en-US" sz="16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x⁴</a:t>
            </a:r>
            <a:r>
              <a:rPr lang="en-US" sz="16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r>
              <a:rPr lang="en-US" sz="10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4!</a:t>
            </a:r>
            <a:r>
              <a:rPr lang="en-US" sz="16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⋯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4605338" y="2963168"/>
            <a:ext cx="3862387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566714" y="3115568"/>
            <a:ext cx="393963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Σ </a:t>
            </a:r>
            <a:r>
              <a:rPr lang="en-US" sz="1050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r>
              <a:rPr lang="en-US" sz="1350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r>
              <a:rPr lang="en-US" sz="975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n!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265533" y="3793629"/>
            <a:ext cx="45419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1125"/>
              </a:spcBef>
              <a:buNone/>
            </a:pPr>
            <a:r>
              <a:rPr lang="en-US" sz="900" i="1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ALL powers of x with positive coefficients</a:t>
            </a:r>
            <a:endParaRPr 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387FFD2-47D5-9AC7-0696-29D44D617A79}"/>
                  </a:ext>
                </a:extLst>
              </p:cNvPr>
              <p:cNvSpPr txBox="1"/>
              <p:nvPr/>
            </p:nvSpPr>
            <p:spPr>
              <a:xfrm>
                <a:off x="609600" y="1863429"/>
                <a:ext cx="1116331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PK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PK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PK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>
                    <a:solidFill>
                      <a:schemeClr val="bg1"/>
                    </a:solidFill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bg1"/>
                    </a:solidFill>
                  </a:rPr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PK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387FFD2-47D5-9AC7-0696-29D44D617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863429"/>
                <a:ext cx="1116331" cy="398955"/>
              </a:xfrm>
              <a:prstGeom prst="rect">
                <a:avLst/>
              </a:prstGeom>
              <a:blipFill>
                <a:blip r:embed="rId5"/>
                <a:stretch>
                  <a:fillRect l="-4918" t="-3077" r="-1639" b="-2153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32759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Taylor Series for sin(x) and cos(x)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250752"/>
            <a:ext cx="8382000" cy="876151"/>
          </a:xfrm>
          <a:prstGeom prst="roundRect">
            <a:avLst>
              <a:gd name="adj" fmla="val 1087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250752"/>
            <a:ext cx="0" cy="87615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704850" y="1528763"/>
            <a:ext cx="7772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sin(x)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57350" y="1460302"/>
            <a:ext cx="224844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x − </a:t>
            </a: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x³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r>
              <a:rPr lang="en-US" sz="975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3!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x⁵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r>
              <a:rPr lang="en-US" sz="975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5!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− </a:t>
            </a: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x⁷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r>
              <a:rPr lang="en-US" sz="975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7!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⋯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57350" y="1757363"/>
            <a:ext cx="19995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powers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alternating signs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365028"/>
            <a:ext cx="8382000" cy="876151"/>
          </a:xfrm>
          <a:prstGeom prst="roundRect">
            <a:avLst>
              <a:gd name="adj" fmla="val 1087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365028"/>
            <a:ext cx="0" cy="87615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704850" y="2643039"/>
            <a:ext cx="7772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cos(x)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57350" y="2574578"/>
            <a:ext cx="237907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1 − </a:t>
            </a: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x²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r>
              <a:rPr lang="en-US" sz="975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2!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x⁴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r>
              <a:rPr lang="en-US" sz="975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4!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− </a:t>
            </a:r>
            <a:r>
              <a:rPr lang="en-US" sz="12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x⁶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r>
              <a:rPr lang="en-US" sz="975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6!</a:t>
            </a:r>
            <a:r>
              <a:rPr lang="en-US" sz="13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⋯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657350" y="2871639"/>
            <a:ext cx="20545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powers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alternating signs</a:t>
            </a:r>
            <a:endParaRPr lang="en-US" sz="900" dirty="0"/>
          </a:p>
        </p:txBody>
      </p:sp>
      <p:pic>
        <p:nvPicPr>
          <p:cNvPr id="13" name="Image 0" descr="/tmp/rasterized-gradient-4c6f28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574554"/>
            <a:ext cx="8382000" cy="87049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66750" y="3765054"/>
            <a:ext cx="7966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OBSERVATION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666750" y="4041279"/>
            <a:ext cx="79667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0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series</a:t>
            </a: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contains </a:t>
            </a: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terms</a:t>
            </a: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both </a:t>
            </a:r>
            <a:r>
              <a:rPr lang="en-US" sz="10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</a:t>
            </a: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0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</a:t>
            </a: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but with </a:t>
            </a:r>
            <a:r>
              <a:rPr lang="en-US" sz="105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positive signs</a:t>
            </a: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hints at a deep connection!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Deriving Euler's Formula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932557"/>
            <a:ext cx="8382000" cy="634752"/>
          </a:xfrm>
          <a:prstGeom prst="roundRect">
            <a:avLst>
              <a:gd name="adj" fmla="val 1200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046857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75"/>
              </a:spcAft>
              <a:buNone/>
            </a:pPr>
            <a:r>
              <a:rPr lang="en-US" sz="825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Substitute ix</a:t>
            </a:r>
            <a:endParaRPr lang="en-US" sz="8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571500" y="1241078"/>
                <a:ext cx="8161020" cy="21193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47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050" b="0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050" b="0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</a:rPr>
                          <m:t>𝑖𝑥</m:t>
                        </m:r>
                      </m:sup>
                    </m:sSup>
                  </m:oMath>
                </a14:m>
                <a:r>
                  <a:rPr lang="en-US" sz="1050" dirty="0">
                    <a:solidFill>
                      <a:srgbClr val="E6EDF3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 = 1 + ix + (ix)²/2! + (ix)³/3! + (ix)⁴/4! + ⋯</a:t>
                </a:r>
                <a:endParaRPr lang="en-US" sz="1050" dirty="0"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241078"/>
                <a:ext cx="8161020" cy="211931"/>
              </a:xfrm>
              <a:prstGeom prst="rect">
                <a:avLst/>
              </a:prstGeom>
              <a:blipFill>
                <a:blip r:embed="rId3"/>
                <a:stretch>
                  <a:fillRect l="-448" t="-14706" b="-20588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381000" y="1681609"/>
            <a:ext cx="8382000" cy="609451"/>
          </a:xfrm>
          <a:prstGeom prst="roundRect">
            <a:avLst>
              <a:gd name="adj" fmla="val 125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1795909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75"/>
              </a:spcAft>
              <a:buNone/>
            </a:pPr>
            <a:r>
              <a:rPr lang="en-US" sz="825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Apply powers of i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71500" y="1990130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1 + </a:t>
            </a:r>
            <a:r>
              <a:rPr lang="en-US" sz="105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</a:t>
            </a:r>
            <a:r>
              <a:rPr lang="en-US" sz="10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− x²/2! − </a:t>
            </a:r>
            <a:r>
              <a:rPr lang="en-US" sz="105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ix³/3!</a:t>
            </a:r>
            <a:r>
              <a:rPr lang="en-US" sz="10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x⁴/4! + </a:t>
            </a:r>
            <a:r>
              <a:rPr lang="en-US" sz="105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ix⁵/5!</a:t>
            </a:r>
            <a:r>
              <a:rPr lang="en-US" sz="10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− ⋯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2405360"/>
            <a:ext cx="8382000" cy="609451"/>
          </a:xfrm>
          <a:prstGeom prst="roundRect">
            <a:avLst>
              <a:gd name="adj" fmla="val 125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2519660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75"/>
              </a:spcAft>
              <a:buNone/>
            </a:pPr>
            <a:r>
              <a:rPr lang="en-US" sz="825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Separate real and imaginary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71500" y="2713881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</a:t>
            </a:r>
            <a:r>
              <a:rPr lang="en-US" sz="105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(1 − x²/2! + x⁴/4! − ⋯)</a:t>
            </a:r>
            <a:r>
              <a:rPr lang="en-US" sz="10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i</a:t>
            </a:r>
            <a:r>
              <a:rPr lang="en-US" sz="105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(x − x³/3! + x⁵/5! − ⋯)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3129111"/>
            <a:ext cx="8382000" cy="609451"/>
          </a:xfrm>
          <a:prstGeom prst="roundRect">
            <a:avLst>
              <a:gd name="adj" fmla="val 125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500" y="3243411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75"/>
              </a:spcAft>
              <a:buNone/>
            </a:pPr>
            <a:r>
              <a:rPr lang="en-US" sz="825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Recognize the series!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71500" y="3437632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</a:t>
            </a:r>
            <a:r>
              <a:rPr lang="en-US" sz="1050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cos(x)</a:t>
            </a:r>
            <a:r>
              <a:rPr lang="en-US" sz="105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i · </a:t>
            </a:r>
            <a:r>
              <a:rPr lang="en-US" sz="105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sin(x)</a:t>
            </a:r>
            <a:endParaRPr lang="en-US" sz="1050" dirty="0"/>
          </a:p>
        </p:txBody>
      </p:sp>
      <p:pic>
        <p:nvPicPr>
          <p:cNvPr id="15" name="Image 0" descr="/tmp/rasterized-gradient-92c583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52863"/>
            <a:ext cx="8382000" cy="8533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62344" y="4014788"/>
            <a:ext cx="82193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75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EULER'S FORMULA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4"/>
              <p:cNvSpPr/>
              <p:nvPr/>
            </p:nvSpPr>
            <p:spPr>
              <a:xfrm>
                <a:off x="462344" y="4195763"/>
                <a:ext cx="8219313" cy="3485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252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800" b="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800" b="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  <m:t>𝑖𝑥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F0B429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 = cos(x) + </a:t>
                </a:r>
                <a:r>
                  <a:rPr lang="en-US" dirty="0" err="1">
                    <a:solidFill>
                      <a:srgbClr val="F0B429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i</a:t>
                </a:r>
                <a:r>
                  <a:rPr lang="en-US" sz="1800" dirty="0">
                    <a:solidFill>
                      <a:srgbClr val="F0B429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 · sin(x)</a:t>
                </a:r>
                <a:endParaRPr lang="en-US" sz="1800" dirty="0"/>
              </a:p>
            </p:txBody>
          </p:sp>
        </mc:Choice>
        <mc:Fallback xmlns="">
          <p:sp>
            <p:nvSpPr>
              <p:cNvPr id="17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44" y="4195763"/>
                <a:ext cx="8219313" cy="348555"/>
              </a:xfrm>
              <a:prstGeom prst="rect">
                <a:avLst/>
              </a:prstGeom>
              <a:blipFill>
                <a:blip r:embed="rId5"/>
                <a:stretch>
                  <a:fillRect t="-17544" b="-26316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75"/>
              </a:spcAft>
              <a:buNone/>
            </a:pPr>
            <a:r>
              <a:rPr lang="en-US" sz="21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Arriving at Euler's Identity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97180" y="1056829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 </a:t>
            </a:r>
            <a:r>
              <a:rPr lang="en-US" sz="12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π</a:t>
            </a: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Euler's Formula: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1000" y="1412974"/>
            <a:ext cx="8382000" cy="1145977"/>
          </a:xfrm>
          <a:prstGeom prst="roundRect">
            <a:avLst>
              <a:gd name="adj" fmla="val 831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685800" y="1584424"/>
                <a:ext cx="7772400" cy="2824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2100"/>
                  </a:lnSpc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500" b="0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500" b="0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l-GR" sz="1500" b="0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E6EDF3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 = cos(π) + </a:t>
                </a:r>
                <a:r>
                  <a:rPr lang="en-US" sz="1500" dirty="0" err="1">
                    <a:solidFill>
                      <a:srgbClr val="E6EDF3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i</a:t>
                </a:r>
                <a:r>
                  <a:rPr lang="en-US" sz="1500" dirty="0">
                    <a:solidFill>
                      <a:srgbClr val="E6EDF3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 · sin(π)</a:t>
                </a:r>
                <a:endParaRPr lang="en-US" sz="1500" dirty="0"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584424"/>
                <a:ext cx="7772400" cy="282476"/>
              </a:xfrm>
              <a:prstGeom prst="rect">
                <a:avLst/>
              </a:prstGeom>
              <a:blipFill>
                <a:blip r:embed="rId3"/>
                <a:stretch>
                  <a:fillRect t="-15217" b="-28261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2286000" y="1981200"/>
            <a:ext cx="4572000" cy="9525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685800" y="2105025"/>
                <a:ext cx="7772400" cy="2824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2100"/>
                  </a:lnSpc>
                  <a:spcBef>
                    <a:spcPts val="90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500" b="0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500" b="0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l-GR" sz="1500" b="0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E6EDF3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 = </a:t>
                </a:r>
                <a:r>
                  <a:rPr lang="en-US" sz="1500" dirty="0">
                    <a:solidFill>
                      <a:srgbClr val="22C55E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−1</a:t>
                </a:r>
                <a:r>
                  <a:rPr lang="en-US" sz="1500" dirty="0">
                    <a:solidFill>
                      <a:srgbClr val="E6EDF3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 + </a:t>
                </a:r>
                <a:r>
                  <a:rPr lang="en-US" sz="1500" dirty="0" err="1">
                    <a:solidFill>
                      <a:srgbClr val="E6EDF3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i</a:t>
                </a:r>
                <a:r>
                  <a:rPr lang="en-US" sz="1500" dirty="0">
                    <a:solidFill>
                      <a:srgbClr val="E6EDF3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 · </a:t>
                </a:r>
                <a:r>
                  <a:rPr lang="en-US" sz="1500" dirty="0">
                    <a:solidFill>
                      <a:srgbClr val="3B82F6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</a:t>
                </a:r>
                <a:r>
                  <a:rPr lang="en-US" sz="1500" dirty="0">
                    <a:solidFill>
                      <a:srgbClr val="E6EDF3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 = </a:t>
                </a:r>
                <a:r>
                  <a:rPr lang="en-US" sz="1500" dirty="0">
                    <a:solidFill>
                      <a:srgbClr val="F0B429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−1</a:t>
                </a:r>
                <a:endParaRPr lang="en-US" sz="15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105025"/>
                <a:ext cx="7772400" cy="282476"/>
              </a:xfrm>
              <a:prstGeom prst="rect">
                <a:avLst/>
              </a:prstGeom>
              <a:blipFill>
                <a:blip r:embed="rId4"/>
                <a:stretch>
                  <a:fillRect t="-12766" b="-25532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297180" y="2701826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1 to both sides:</a:t>
            </a:r>
            <a:endParaRPr lang="en-US" sz="1200" dirty="0"/>
          </a:p>
        </p:txBody>
      </p:sp>
      <p:pic>
        <p:nvPicPr>
          <p:cNvPr id="9" name="Image 0" descr="/tmp/rasterized-gradient-9c4710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057971"/>
            <a:ext cx="8382000" cy="11924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7"/>
              <p:cNvSpPr/>
              <p:nvPr/>
            </p:nvSpPr>
            <p:spPr>
              <a:xfrm>
                <a:off x="569214" y="3324671"/>
                <a:ext cx="8005572" cy="6590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504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600" b="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3600" b="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l-GR" sz="3600" b="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lang="en-US" sz="3600" dirty="0">
                    <a:solidFill>
                      <a:srgbClr val="F0B429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 + 1 = 0</a:t>
                </a:r>
                <a:endParaRPr lang="en-US" sz="3600" dirty="0"/>
              </a:p>
            </p:txBody>
          </p:sp>
        </mc:Choice>
        <mc:Fallback xmlns="">
          <p:sp>
            <p:nvSpPr>
              <p:cNvPr id="10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14" y="3324671"/>
                <a:ext cx="8005572" cy="659011"/>
              </a:xfrm>
              <a:prstGeom prst="rect">
                <a:avLst/>
              </a:prstGeom>
              <a:blipFill>
                <a:blip r:embed="rId6"/>
                <a:stretch>
                  <a:fillRect t="-16667" b="-30556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8"/>
          <p:cNvSpPr/>
          <p:nvPr/>
        </p:nvSpPr>
        <p:spPr>
          <a:xfrm>
            <a:off x="297180" y="4393257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constants from different branches of mathematics, united in perfect harmony.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Geometric Interpretation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791521" y="159216"/>
            <a:ext cx="3643313" cy="1859161"/>
          </a:xfrm>
          <a:prstGeom prst="roundRect">
            <a:avLst>
              <a:gd name="adj" fmla="val 614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97975" y="397341"/>
            <a:ext cx="323040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1125"/>
              </a:spcAft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 CIRCLE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220146" y="713451"/>
            <a:ext cx="3036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= 0</a:t>
            </a: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 = </a:t>
            </a: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(right)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220146" y="980151"/>
            <a:ext cx="3036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= π/2</a:t>
            </a: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 = </a:t>
            </a: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(top)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20146" y="1246851"/>
            <a:ext cx="3036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= π</a:t>
            </a: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 = </a:t>
            </a:r>
            <a:r>
              <a:rPr lang="en-US" sz="1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(left)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20146" y="1513551"/>
            <a:ext cx="3036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= 3π/2</a:t>
            </a: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 = </a:t>
            </a:r>
            <a:r>
              <a:rPr lang="en-US" sz="15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−i</a:t>
            </a:r>
            <a:r>
              <a:rPr lang="en-US" sz="15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(bottom)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308133" y="4763467"/>
                <a:ext cx="3716179" cy="18856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>
                  <a:lnSpc>
                    <a:spcPts val="1260"/>
                  </a:lnSpc>
                  <a:spcBef>
                    <a:spcPts val="135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90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sSupPr>
                      <m:e>
                        <m:r>
                          <a:rPr lang="en-GB" sz="900" b="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𝑒</m:t>
                        </m:r>
                      </m:e>
                      <m:sup>
                        <m:r>
                          <a:rPr lang="en-US" sz="900" i="1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𝑖</m:t>
                        </m:r>
                        <m:r>
                          <a:rPr lang="en-US" sz="900" i="1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sz="900" dirty="0">
                    <a:solidFill>
                      <a:srgbClr val="F0B42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traces the unit circle as θ varies</a:t>
                </a:r>
                <a:endParaRPr lang="en-US" sz="9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33" y="4763467"/>
                <a:ext cx="3716179" cy="188565"/>
              </a:xfrm>
              <a:prstGeom prst="rect">
                <a:avLst/>
              </a:prstGeom>
              <a:blipFill>
                <a:blip r:embed="rId3"/>
                <a:stretch>
                  <a:fillRect t="-16129" b="-16129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4310063" y="2221736"/>
            <a:ext cx="4452938" cy="1008162"/>
          </a:xfrm>
          <a:prstGeom prst="roundRect">
            <a:avLst>
              <a:gd name="adj" fmla="val 944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4481513" y="2393186"/>
                <a:ext cx="4192238" cy="1954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365"/>
                  </a:lnSpc>
                  <a:spcAft>
                    <a:spcPts val="600"/>
                  </a:spcAft>
                </a:pPr>
                <a:r>
                  <a:rPr lang="en-US" sz="975" b="1" dirty="0">
                    <a:solidFill>
                      <a:srgbClr val="F0B42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975" b="1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sSupPr>
                      <m:e>
                        <m:r>
                          <a:rPr lang="en-GB" sz="975" b="1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𝒆</m:t>
                        </m:r>
                      </m:e>
                      <m:sup>
                        <m:r>
                          <a:rPr lang="en-GB" sz="975" b="1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𝒊</m:t>
                        </m:r>
                        <m:r>
                          <a:rPr lang="el-GR" sz="975" b="1" i="1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𝜽</m:t>
                        </m:r>
                      </m:sup>
                    </m:sSup>
                  </m:oMath>
                </a14:m>
                <a:r>
                  <a:rPr lang="en-US" sz="975" b="1" dirty="0">
                    <a:solidFill>
                      <a:srgbClr val="F0B42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MEANS</a:t>
                </a:r>
                <a:endParaRPr lang="en-US" sz="975" dirty="0"/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513" y="2393186"/>
                <a:ext cx="4192238" cy="195411"/>
              </a:xfrm>
              <a:prstGeom prst="rect">
                <a:avLst/>
              </a:prstGeom>
              <a:blipFill>
                <a:blip r:embed="rId4"/>
                <a:stretch>
                  <a:fillRect l="-1744" t="-15625" b="-18750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481513" y="2664797"/>
                <a:ext cx="4192238" cy="3936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463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975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sSupPr>
                      <m:e>
                        <m:r>
                          <a:rPr lang="en-GB" sz="975" b="0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𝑒</m:t>
                        </m:r>
                      </m:e>
                      <m:sup>
                        <m:r>
                          <a:rPr lang="en-US" sz="975" i="1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𝑖</m:t>
                        </m:r>
                        <m:r>
                          <a:rPr lang="en-US" sz="975" i="1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sz="975" dirty="0">
                    <a:solidFill>
                      <a:srgbClr val="E6EDF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represents a point on the unit circle at angle θ radians from the positive real axis.</a:t>
                </a:r>
                <a:endParaRPr lang="en-US" sz="975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513" y="2664797"/>
                <a:ext cx="4192238" cy="393650"/>
              </a:xfrm>
              <a:prstGeom prst="rect">
                <a:avLst/>
              </a:prstGeom>
              <a:blipFill>
                <a:blip r:embed="rId5"/>
                <a:stretch>
                  <a:fillRect l="-1744" t="-4615" b="-10769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4310063" y="3372773"/>
            <a:ext cx="4452938" cy="681930"/>
          </a:xfrm>
          <a:prstGeom prst="roundRect">
            <a:avLst>
              <a:gd name="adj" fmla="val 1117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81513" y="3515648"/>
            <a:ext cx="419223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part</a:t>
            </a: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cos(θ) → horizontal position 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Imaginary part</a:t>
            </a: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sin(θ) → vertical position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310063" y="4197578"/>
            <a:ext cx="4452938" cy="550813"/>
          </a:xfrm>
          <a:prstGeom prst="roundRect">
            <a:avLst>
              <a:gd name="adj" fmla="val 1729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324350" y="4197578"/>
            <a:ext cx="0" cy="550813"/>
          </a:xfrm>
          <a:prstGeom prst="line">
            <a:avLst/>
          </a:prstGeom>
          <a:noFill/>
          <a:ln w="28575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510088" y="4369028"/>
            <a:ext cx="4163092" cy="20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means "rotate by π radians (180°)" — taking us from </a:t>
            </a:r>
            <a:r>
              <a:rPr lang="en-US" sz="9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r>
              <a:rPr lang="en-US" sz="97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75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256624-3D17-64CE-1511-936B2C5BD8B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521" t="5555" r="16637" b="3362"/>
          <a:stretch>
            <a:fillRect/>
          </a:stretch>
        </p:blipFill>
        <p:spPr>
          <a:xfrm>
            <a:off x="543995" y="935606"/>
            <a:ext cx="3409489" cy="35373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 to Course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60252"/>
            <a:ext cx="4105275" cy="1646039"/>
          </a:xfrm>
          <a:prstGeom prst="roundRect">
            <a:avLst>
              <a:gd name="adj" fmla="val 578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074539"/>
            <a:ext cx="4105275" cy="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71500" y="1279327"/>
            <a:ext cx="37987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CURVES</a:t>
            </a: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571500" y="1561207"/>
                <a:ext cx="3798761" cy="2079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463"/>
                  </a:lnSpc>
                  <a:spcAft>
                    <a:spcPts val="9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975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sSupPr>
                      <m:e>
                        <m:r>
                          <a:rPr lang="en-GB" sz="975" b="0" i="1" smtClean="0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𝑒</m:t>
                        </m:r>
                      </m:e>
                      <m:sup>
                        <m:r>
                          <a:rPr lang="en-US" sz="975" i="1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𝑖</m:t>
                        </m:r>
                        <m:r>
                          <a:rPr lang="en-US" sz="975" i="1">
                            <a:solidFill>
                              <a:srgbClr val="E6EDF3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sz="975" dirty="0">
                    <a:solidFill>
                      <a:srgbClr val="E6EDF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cos(θ) + i·sin(θ) is equivalent to:</a:t>
                </a:r>
                <a:endParaRPr lang="en-US" sz="975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561207"/>
                <a:ext cx="3798761" cy="207913"/>
              </a:xfrm>
              <a:prstGeom prst="rect">
                <a:avLst/>
              </a:prstGeom>
              <a:blipFill>
                <a:blip r:embed="rId3"/>
                <a:stretch>
                  <a:fillRect l="-803" t="-8824" b="-17647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571500" y="1883420"/>
            <a:ext cx="3724275" cy="390525"/>
          </a:xfrm>
          <a:prstGeom prst="roundRect">
            <a:avLst>
              <a:gd name="adj" fmla="val 1463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9990" y="1978670"/>
            <a:ext cx="3507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r⃗(θ) = ⟨cos(θ), sin(θ)⟩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71500" y="2369195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unit circle parameterization used in line integrals!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57725" y="1077962"/>
            <a:ext cx="4105275" cy="1610469"/>
          </a:xfrm>
          <a:prstGeom prst="roundRect">
            <a:avLst>
              <a:gd name="adj" fmla="val 59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57725" y="1092250"/>
            <a:ext cx="4105275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848225" y="1297037"/>
            <a:ext cx="37987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CAUCHY-RIEMANN EQUATIONS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8225" y="1578918"/>
            <a:ext cx="379876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analytic functions f(z) = u + iv: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848225" y="1878955"/>
            <a:ext cx="3724275" cy="377130"/>
          </a:xfrm>
          <a:prstGeom prst="roundRect">
            <a:avLst>
              <a:gd name="adj" fmla="val 1515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6715" y="1974205"/>
            <a:ext cx="3507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∂u/∂x = ∂v/∂y,  ∂u/∂y = −∂v/∂x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8225" y="2351336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to conservative fields: ∇ × F⃗ = 0</a:t>
            </a:r>
            <a:endParaRPr lang="en-US" sz="825" dirty="0"/>
          </a:p>
        </p:txBody>
      </p:sp>
      <p:pic>
        <p:nvPicPr>
          <p:cNvPr id="17" name="Image 0" descr="/tmp/rasterized-gradient-b23039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877741"/>
            <a:ext cx="8382000" cy="112752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7225" y="3087291"/>
            <a:ext cx="80250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GREEN'S THEOREM CONNECTION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7225" y="3369171"/>
            <a:ext cx="802500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Cauchy's integral theorem in complex analysis is essentially </a:t>
            </a:r>
            <a:r>
              <a:rPr lang="en-US" sz="105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Green's theorem</a:t>
            </a: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applied to complex functions. The line integral machinery from this course extends directly into complex analysis.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81000" y="4176712"/>
            <a:ext cx="8382000" cy="458986"/>
          </a:xfrm>
          <a:prstGeom prst="roundRect">
            <a:avLst>
              <a:gd name="adj" fmla="val 1660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91490" y="4319588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 we've learned for </a:t>
            </a:r>
            <a:r>
              <a:rPr lang="en-US" sz="975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fields</a:t>
            </a: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9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integrals</a:t>
            </a: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 the foundation of </a:t>
            </a:r>
            <a:r>
              <a:rPr lang="en-US" sz="975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analysis</a:t>
            </a: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076325"/>
            <a:ext cx="1966912" cy="3244304"/>
          </a:xfrm>
          <a:prstGeom prst="roundRect">
            <a:avLst>
              <a:gd name="adj" fmla="val 48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0550" y="12858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0550" y="1905000"/>
            <a:ext cx="1578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Engineering</a:t>
            </a:r>
            <a:endParaRPr lang="en-US" sz="11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590550" y="2200275"/>
                <a:ext cx="1578769" cy="19108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440"/>
                  </a:lnSpc>
                  <a:buNone/>
                </a:pPr>
                <a:r>
                  <a:rPr lang="en-US" sz="900" dirty="0">
                    <a:solidFill>
                      <a:srgbClr val="8B949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AC circuits use phasors: V = V₀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900" i="1" smtClean="0">
                            <a:solidFill>
                              <a:srgbClr val="8B949E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sSupPr>
                      <m:e>
                        <m:r>
                          <a:rPr lang="en-GB" sz="900" b="0" i="1" smtClean="0">
                            <a:solidFill>
                              <a:srgbClr val="8B949E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𝑒</m:t>
                        </m:r>
                      </m:e>
                      <m:sup>
                        <m:r>
                          <a:rPr lang="en-GB" sz="900" b="0" i="1" smtClean="0">
                            <a:solidFill>
                              <a:srgbClr val="8B949E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l-GR" sz="900" b="0" i="1" smtClean="0">
                            <a:solidFill>
                              <a:srgbClr val="8B949E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ω</m:t>
                        </m:r>
                        <m:r>
                          <a:rPr lang="en-GB" sz="900" b="0" i="1" smtClean="0">
                            <a:solidFill>
                              <a:srgbClr val="8B949E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900" dirty="0">
                    <a:solidFill>
                      <a:srgbClr val="8B949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Complex exponentials simplify analysis of impedance and power.</a:t>
                </a:r>
                <a:endParaRPr lang="en-US" sz="9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2200275"/>
                <a:ext cx="1578769" cy="1910804"/>
              </a:xfrm>
              <a:prstGeom prst="rect">
                <a:avLst/>
              </a:prstGeom>
              <a:blipFill>
                <a:blip r:embed="rId3"/>
                <a:stretch>
                  <a:fillRect l="-4633" t="-958" r="-4247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2519363" y="1076325"/>
            <a:ext cx="1966912" cy="3244304"/>
          </a:xfrm>
          <a:prstGeom prst="roundRect">
            <a:avLst>
              <a:gd name="adj" fmla="val 48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28913" y="12858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28913" y="1905000"/>
            <a:ext cx="1578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Processing</a:t>
            </a:r>
            <a:endParaRPr lang="en-US" sz="11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2728913" y="2200275"/>
                <a:ext cx="1578769" cy="19108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440"/>
                  </a:lnSpc>
                </a:pPr>
                <a:r>
                  <a:rPr lang="en-US" sz="900" dirty="0">
                    <a:solidFill>
                      <a:srgbClr val="8B949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Fourier transforms decompose signals into frequency components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900" i="1">
                            <a:solidFill>
                              <a:srgbClr val="8B949E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sSupPr>
                      <m:e>
                        <m:r>
                          <a:rPr lang="en-GB" sz="900" i="1">
                            <a:solidFill>
                              <a:srgbClr val="8B949E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𝑒</m:t>
                        </m:r>
                      </m:e>
                      <m:sup>
                        <m:r>
                          <a:rPr lang="en-GB" sz="900" i="1">
                            <a:solidFill>
                              <a:srgbClr val="8B949E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l-GR" sz="900" i="1">
                            <a:solidFill>
                              <a:srgbClr val="8B949E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ω</m:t>
                        </m:r>
                        <m:r>
                          <a:rPr lang="en-GB" sz="900" i="1">
                            <a:solidFill>
                              <a:srgbClr val="8B949E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900" dirty="0">
                    <a:solidFill>
                      <a:srgbClr val="8B949E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basis functions.</a:t>
                </a:r>
                <a:endParaRPr lang="en-US" sz="9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913" y="2200275"/>
                <a:ext cx="1578769" cy="1910804"/>
              </a:xfrm>
              <a:prstGeom prst="rect">
                <a:avLst/>
              </a:prstGeom>
              <a:blipFill>
                <a:blip r:embed="rId4"/>
                <a:stretch>
                  <a:fillRect l="-4633" t="-958" r="-5405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4657725" y="1076325"/>
            <a:ext cx="1966912" cy="3244304"/>
          </a:xfrm>
          <a:prstGeom prst="roundRect">
            <a:avLst>
              <a:gd name="adj" fmla="val 48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67275" y="12858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67275" y="1905000"/>
            <a:ext cx="1578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Mechanics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867275" y="2200275"/>
            <a:ext cx="1578769" cy="1910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functions are complex exponentials. Schrödinger's equation relies on complex analysis.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96088" y="1076325"/>
            <a:ext cx="1966912" cy="3244304"/>
          </a:xfrm>
          <a:prstGeom prst="roundRect">
            <a:avLst>
              <a:gd name="adj" fmla="val 48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05638" y="1285875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05638" y="1905000"/>
            <a:ext cx="1578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Systems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7005638" y="2200275"/>
            <a:ext cx="1578769" cy="1910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functions and stability analysis use poles and zeros in the complex plane.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7180" y="46159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Euler's formula is the mathematical foundation behind modern technology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3692" y="649188"/>
            <a:ext cx="5216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15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8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/>
              <p:nvPr/>
            </p:nvSpPr>
            <p:spPr>
              <a:xfrm>
                <a:off x="1963692" y="986284"/>
                <a:ext cx="5216616" cy="86603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6720"/>
                  </a:lnSpc>
                  <a:spcAft>
                    <a:spcPts val="225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80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800" b="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4800" b="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l-GR" sz="4800" b="0" i="1" smtClean="0">
                            <a:solidFill>
                              <a:srgbClr val="F0B429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lang="en-US" sz="4800" dirty="0">
                    <a:solidFill>
                      <a:srgbClr val="F0B429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+ 1 = 0</a:t>
                </a:r>
                <a:endParaRPr lang="en-US" sz="4800" dirty="0"/>
              </a:p>
            </p:txBody>
          </p:sp>
        </mc:Choice>
        <mc:Fallback xmlns="">
          <p:sp>
            <p:nvSpPr>
              <p:cNvPr id="3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692" y="986284"/>
                <a:ext cx="5216616" cy="866031"/>
              </a:xfrm>
              <a:prstGeom prst="rect">
                <a:avLst/>
              </a:prstGeom>
              <a:blipFill>
                <a:blip r:embed="rId3"/>
                <a:stretch>
                  <a:fillRect t="-16197" b="-32394"/>
                </a:stretch>
              </a:blipFill>
              <a:ln/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2"/>
          <p:cNvSpPr/>
          <p:nvPr/>
        </p:nvSpPr>
        <p:spPr>
          <a:xfrm>
            <a:off x="4000500" y="2138065"/>
            <a:ext cx="1143000" cy="190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63692" y="2442865"/>
            <a:ext cx="5216616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95"/>
              </a:lnSpc>
              <a:spcAft>
                <a:spcPts val="2625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fundamental constants from different branches of mathematics</a:t>
            </a:r>
            <a:endParaRPr lang="en-US" sz="1350" dirty="0"/>
          </a:p>
          <a:p>
            <a:pPr marL="0" indent="0" algn="ctr">
              <a:lnSpc>
                <a:spcPts val="2295"/>
              </a:lnSpc>
              <a:spcAft>
                <a:spcPts val="2625"/>
              </a:spcAft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united through Taylor series and complex analysis.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963692" y="4044851"/>
            <a:ext cx="52166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most remarkable formula in mathematics"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63692" y="4334321"/>
            <a:ext cx="5216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Richard Feynman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2887" y="1592474"/>
            <a:ext cx="351822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Aft>
                <a:spcPts val="1125"/>
              </a:spcAft>
              <a:buNone/>
            </a:pPr>
            <a:r>
              <a:rPr lang="en-US" sz="3600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91000" y="2375310"/>
            <a:ext cx="762000" cy="28575"/>
          </a:xfrm>
          <a:prstGeom prst="rect">
            <a:avLst/>
          </a:prstGeom>
          <a:solidFill>
            <a:srgbClr val="F0B4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12887" y="1962150"/>
            <a:ext cx="35182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3750"/>
              </a:spcAft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847380" y="2758380"/>
            <a:ext cx="3449241" cy="978991"/>
          </a:xfrm>
          <a:prstGeom prst="roundRect">
            <a:avLst>
              <a:gd name="adj" fmla="val 1167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98662" y="2996505"/>
            <a:ext cx="25466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97910" y="3259336"/>
            <a:ext cx="27481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Ismail Noorudin  &amp;  Shehryar Rind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812887" y="4118372"/>
            <a:ext cx="35182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0"/>
              </a:spcBef>
              <a:buNone/>
            </a:pPr>
            <a:r>
              <a:rPr lang="en-US" sz="9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Mathematics  •  MATH 202  •  December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1112</Words>
  <Application>Microsoft Office PowerPoint</Application>
  <PresentationFormat>On-screen Show (16:9)</PresentationFormat>
  <Paragraphs>152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Euler's Identity: The Most Beautiful Equation</dc:title>
  <dc:subject>Engineering Mathematics Project</dc:subject>
  <dc:creator>Ismail Noorudin &amp; Shehryar Rind</dc:creator>
  <cp:lastModifiedBy>shehryar rind</cp:lastModifiedBy>
  <cp:revision>6</cp:revision>
  <dcterms:created xsi:type="dcterms:W3CDTF">2025-12-15T18:35:14Z</dcterms:created>
  <dcterms:modified xsi:type="dcterms:W3CDTF">2025-12-16T08:57:09Z</dcterms:modified>
</cp:coreProperties>
</file>